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78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C486C6-BC1C-47CE-A639-0EE8AA3ED71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B90060-B761-450A-973C-8AF5FEE4634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25361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B90060-B761-450A-973C-8AF5FEE46349}" type="slidenum">
              <a:rPr lang="es-PE" smtClean="0"/>
              <a:t>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24561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Imágenes de Ciudad digital por noche - Descarga gratuita en Magnific (antes Freepik)">
            <a:extLst>
              <a:ext uri="{FF2B5EF4-FFF2-40B4-BE49-F238E27FC236}">
                <a16:creationId xmlns:a16="http://schemas.microsoft.com/office/drawing/2014/main" id="{BD223416-8840-8238-0A68-A19D55E94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902" y="1686910"/>
            <a:ext cx="6863257" cy="484001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C7027ED-1231-0627-0CBF-A7E6C3285A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-315310"/>
            <a:ext cx="9884979" cy="1292772"/>
          </a:xfrm>
        </p:spPr>
        <p:txBody>
          <a:bodyPr/>
          <a:lstStyle/>
          <a:p>
            <a:pPr algn="ctr"/>
            <a:r>
              <a:rPr lang="es-MX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REDES E INTERNET</a:t>
            </a:r>
            <a:endParaRPr lang="es-PE" dirty="0">
              <a:solidFill>
                <a:schemeClr val="bg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BA5C80D-00F1-1916-2890-170E89C92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3420" y="2333297"/>
            <a:ext cx="4430109" cy="2680138"/>
          </a:xfrm>
        </p:spPr>
        <p:txBody>
          <a:bodyPr>
            <a:normAutofit fontScale="92500"/>
          </a:bodyPr>
          <a:lstStyle/>
          <a:p>
            <a:pPr algn="ctr"/>
            <a:r>
              <a:rPr lang="es-MX" sz="3200" dirty="0">
                <a:solidFill>
                  <a:schemeClr val="tx1"/>
                </a:solidFill>
                <a:latin typeface="Arial Black" panose="020B0A04020102020204" pitchFamily="34" charset="0"/>
              </a:rPr>
              <a:t>La infraestructura que conecta al mundo moderno</a:t>
            </a:r>
            <a:endParaRPr lang="es-PE" sz="3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711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14018B-01FF-334A-B958-DB2A34FFF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75272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s-MX" sz="4800" b="1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Definición de red </a:t>
            </a:r>
            <a:endParaRPr lang="es-PE" sz="4800" b="1" dirty="0">
              <a:solidFill>
                <a:schemeClr val="bg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1F550EE-F8CA-2A9E-AAFF-F8AE6B07429A}"/>
              </a:ext>
            </a:extLst>
          </p:cNvPr>
          <p:cNvSpPr txBox="1"/>
          <p:nvPr/>
        </p:nvSpPr>
        <p:spPr>
          <a:xfrm>
            <a:off x="1299644" y="2472747"/>
            <a:ext cx="50722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/>
              <a:t>- CONJUNTO DE DISPOSITIVOS             INTERCONECTADOS ENTRE SÍ.</a:t>
            </a:r>
            <a:endParaRPr lang="es-PE" sz="2400" b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339AE63-97B1-350C-4414-A7ADA16F5CA8}"/>
              </a:ext>
            </a:extLst>
          </p:cNvPr>
          <p:cNvSpPr txBox="1"/>
          <p:nvPr/>
        </p:nvSpPr>
        <p:spPr>
          <a:xfrm>
            <a:off x="1167690" y="3738795"/>
            <a:ext cx="45404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/>
              <a:t>- CONPARTEN IMFORMACIÓN RECURSOS Y SERVICIOS.</a:t>
            </a:r>
            <a:endParaRPr lang="es-PE" sz="2400" b="1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B037FD0-245D-EBFB-DB41-1D0D949988BB}"/>
              </a:ext>
            </a:extLst>
          </p:cNvPr>
          <p:cNvSpPr txBox="1"/>
          <p:nvPr/>
        </p:nvSpPr>
        <p:spPr>
          <a:xfrm>
            <a:off x="1341082" y="4957666"/>
            <a:ext cx="37837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latin typeface="+mj-lt"/>
              </a:rPr>
              <a:t>- UTILIZAN CONEXIONES POR CABLE O INALÁMBRICAS.</a:t>
            </a:r>
            <a:endParaRPr lang="es-PE" sz="2400" b="1" dirty="0">
              <a:latin typeface="+mj-lt"/>
            </a:endParaRPr>
          </a:p>
        </p:txBody>
      </p:sp>
      <p:pic>
        <p:nvPicPr>
          <p:cNvPr id="9" name="Imagen 8" descr="A si es cómo funciona la red de un centro de cómputo o mejor conocidos como café Internet La señal de Internet llega al modulador o módem depende de la compañía que">
            <a:extLst>
              <a:ext uri="{FF2B5EF4-FFF2-40B4-BE49-F238E27FC236}">
                <a16:creationId xmlns:a16="http://schemas.microsoft.com/office/drawing/2014/main" id="{0877A25B-9DC5-7A4D-1548-CCC3A60D5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4942" y="2097088"/>
            <a:ext cx="5879554" cy="449317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0" name="Flecha: a la derecha con muesca 9">
            <a:extLst>
              <a:ext uri="{FF2B5EF4-FFF2-40B4-BE49-F238E27FC236}">
                <a16:creationId xmlns:a16="http://schemas.microsoft.com/office/drawing/2014/main" id="{717CDB2C-21E3-B31D-ED35-7D2CAEEF36D6}"/>
              </a:ext>
            </a:extLst>
          </p:cNvPr>
          <p:cNvSpPr/>
          <p:nvPr/>
        </p:nvSpPr>
        <p:spPr>
          <a:xfrm>
            <a:off x="163005" y="2584374"/>
            <a:ext cx="978408" cy="484632"/>
          </a:xfrm>
          <a:prstGeom prst="notched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2" name="Flecha: a la derecha con muesca 11">
            <a:extLst>
              <a:ext uri="{FF2B5EF4-FFF2-40B4-BE49-F238E27FC236}">
                <a16:creationId xmlns:a16="http://schemas.microsoft.com/office/drawing/2014/main" id="{3734B78E-CE81-A6EA-A448-082A9EBD4E8E}"/>
              </a:ext>
            </a:extLst>
          </p:cNvPr>
          <p:cNvSpPr/>
          <p:nvPr/>
        </p:nvSpPr>
        <p:spPr>
          <a:xfrm>
            <a:off x="163005" y="3911978"/>
            <a:ext cx="978408" cy="484632"/>
          </a:xfrm>
          <a:prstGeom prst="notched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Flecha: a la derecha con muesca 13">
            <a:extLst>
              <a:ext uri="{FF2B5EF4-FFF2-40B4-BE49-F238E27FC236}">
                <a16:creationId xmlns:a16="http://schemas.microsoft.com/office/drawing/2014/main" id="{61402527-056A-67D6-A208-1A5965F7D6D0}"/>
              </a:ext>
            </a:extLst>
          </p:cNvPr>
          <p:cNvSpPr/>
          <p:nvPr/>
        </p:nvSpPr>
        <p:spPr>
          <a:xfrm>
            <a:off x="189282" y="5315515"/>
            <a:ext cx="978408" cy="484632"/>
          </a:xfrm>
          <a:prstGeom prst="notched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64140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 descr="▷ Que son las redes LAN, MAN y WAN y para que se usan">
            <a:extLst>
              <a:ext uri="{FF2B5EF4-FFF2-40B4-BE49-F238E27FC236}">
                <a16:creationId xmlns:a16="http://schemas.microsoft.com/office/drawing/2014/main" id="{C3C7D8D3-8EA3-B930-8142-397764ACC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26" y="1876098"/>
            <a:ext cx="5088205" cy="4761186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FF49FFC-B301-C997-01E0-45E0D53FE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93979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s-MX" sz="4800" dirty="0">
                <a:solidFill>
                  <a:schemeClr val="bg2">
                    <a:lumMod val="75000"/>
                  </a:schemeClr>
                </a:solidFill>
                <a:latin typeface="Arial Black" panose="020B0A04020102020204" pitchFamily="34" charset="0"/>
              </a:rPr>
              <a:t>CLASIFICACIÓN DE REDES </a:t>
            </a:r>
            <a:endParaRPr lang="es-PE" sz="4800" dirty="0">
              <a:solidFill>
                <a:schemeClr val="bg2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Flecha: a la derecha 3">
            <a:extLst>
              <a:ext uri="{FF2B5EF4-FFF2-40B4-BE49-F238E27FC236}">
                <a16:creationId xmlns:a16="http://schemas.microsoft.com/office/drawing/2014/main" id="{0190C185-9FB5-7850-9C08-11EEABB4967F}"/>
              </a:ext>
            </a:extLst>
          </p:cNvPr>
          <p:cNvSpPr/>
          <p:nvPr/>
        </p:nvSpPr>
        <p:spPr>
          <a:xfrm>
            <a:off x="157656" y="2664371"/>
            <a:ext cx="756744" cy="48463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9DEF7B48-86AB-4F63-0CED-0AB5AD7DC3A5}"/>
              </a:ext>
            </a:extLst>
          </p:cNvPr>
          <p:cNvSpPr/>
          <p:nvPr/>
        </p:nvSpPr>
        <p:spPr>
          <a:xfrm>
            <a:off x="157656" y="4180455"/>
            <a:ext cx="756744" cy="48463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8DDDA8DF-07C9-0248-0CC1-EA49D1654A90}"/>
              </a:ext>
            </a:extLst>
          </p:cNvPr>
          <p:cNvSpPr/>
          <p:nvPr/>
        </p:nvSpPr>
        <p:spPr>
          <a:xfrm>
            <a:off x="117965" y="5752139"/>
            <a:ext cx="756744" cy="48463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CFBFF61-91BC-5AA6-E4F3-95276D8AA592}"/>
              </a:ext>
            </a:extLst>
          </p:cNvPr>
          <p:cNvSpPr txBox="1"/>
          <p:nvPr/>
        </p:nvSpPr>
        <p:spPr>
          <a:xfrm>
            <a:off x="914400" y="2614299"/>
            <a:ext cx="10310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b="1" dirty="0">
                <a:solidFill>
                  <a:srgbClr val="FF0000"/>
                </a:solidFill>
              </a:rPr>
              <a:t>LAN:</a:t>
            </a:r>
            <a:endParaRPr lang="es-PE" sz="3200" b="1" dirty="0">
              <a:solidFill>
                <a:srgbClr val="FF0000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D7C0E0F-C55D-540E-FF97-D307829C082F}"/>
              </a:ext>
            </a:extLst>
          </p:cNvPr>
          <p:cNvSpPr txBox="1"/>
          <p:nvPr/>
        </p:nvSpPr>
        <p:spPr>
          <a:xfrm>
            <a:off x="853573" y="4114436"/>
            <a:ext cx="11817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b="1" dirty="0">
                <a:solidFill>
                  <a:srgbClr val="FF0000"/>
                </a:solidFill>
              </a:rPr>
              <a:t>MAN:</a:t>
            </a:r>
            <a:endParaRPr lang="es-PE" sz="3200" b="1" dirty="0">
              <a:solidFill>
                <a:srgbClr val="FF0000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EA48039-DFA4-AB8F-9372-DCBCB74DAD1B}"/>
              </a:ext>
            </a:extLst>
          </p:cNvPr>
          <p:cNvSpPr txBox="1"/>
          <p:nvPr/>
        </p:nvSpPr>
        <p:spPr>
          <a:xfrm>
            <a:off x="898659" y="5631440"/>
            <a:ext cx="11653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200" b="1" dirty="0">
                <a:solidFill>
                  <a:srgbClr val="FF0000"/>
                </a:solidFill>
              </a:rPr>
              <a:t>WAN:</a:t>
            </a:r>
            <a:endParaRPr lang="es-PE" sz="3200" b="1" dirty="0">
              <a:solidFill>
                <a:srgbClr val="FF0000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C5E4BF5-E43B-9AA7-BDA3-BB91ADCA99C3}"/>
              </a:ext>
            </a:extLst>
          </p:cNvPr>
          <p:cNvSpPr txBox="1"/>
          <p:nvPr/>
        </p:nvSpPr>
        <p:spPr>
          <a:xfrm>
            <a:off x="2134605" y="2614299"/>
            <a:ext cx="64165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/>
              <a:t>RED DE ÁREA LOCAL  (HOGAR,OFICINA,ESCUELA).</a:t>
            </a:r>
            <a:endParaRPr lang="es-PE" sz="2400" b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2078A8C-D3CB-EDAA-AE21-F89B613C8E82}"/>
              </a:ext>
            </a:extLst>
          </p:cNvPr>
          <p:cNvSpPr txBox="1"/>
          <p:nvPr/>
        </p:nvSpPr>
        <p:spPr>
          <a:xfrm>
            <a:off x="2029613" y="4052395"/>
            <a:ext cx="55233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/>
              <a:t>RED DE ÁREA METROPOLITANA (CONECTA UNA CUIDAD ENTERA).</a:t>
            </a:r>
            <a:endParaRPr lang="es-PE" sz="2400" b="1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5F73A21-919D-DEAB-3BAA-2531DAE004ED}"/>
              </a:ext>
            </a:extLst>
          </p:cNvPr>
          <p:cNvSpPr txBox="1"/>
          <p:nvPr/>
        </p:nvSpPr>
        <p:spPr>
          <a:xfrm>
            <a:off x="2029613" y="5578956"/>
            <a:ext cx="45342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/>
              <a:t>RED DE ÁREA AMPLIA (CONECTA PAÍSES O CONTINENTES).</a:t>
            </a:r>
            <a:endParaRPr lang="es-PE" sz="2400" b="1" dirty="0"/>
          </a:p>
        </p:txBody>
      </p:sp>
    </p:spTree>
    <p:extLst>
      <p:ext uri="{BB962C8B-B14F-4D97-AF65-F5344CB8AC3E}">
        <p14:creationId xmlns:p14="http://schemas.microsoft.com/office/powerpoint/2010/main" val="1698050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B1F16A-3694-BB7F-43F9-61E4E6733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88898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s-MX" sz="4800" b="1" dirty="0">
                <a:solidFill>
                  <a:schemeClr val="bg2">
                    <a:lumMod val="50000"/>
                  </a:schemeClr>
                </a:solidFill>
              </a:rPr>
              <a:t>¿QUE ES INTERNET?:</a:t>
            </a:r>
            <a:br>
              <a:rPr lang="es-MX" sz="4800" b="1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4800" b="1" dirty="0">
                <a:solidFill>
                  <a:schemeClr val="bg2">
                    <a:lumMod val="50000"/>
                  </a:schemeClr>
                </a:solidFill>
              </a:rPr>
              <a:t>LA RED DE REDES</a:t>
            </a:r>
            <a:endParaRPr lang="es-PE" sz="4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Diagrama de flujo: decisión 3">
            <a:extLst>
              <a:ext uri="{FF2B5EF4-FFF2-40B4-BE49-F238E27FC236}">
                <a16:creationId xmlns:a16="http://schemas.microsoft.com/office/drawing/2014/main" id="{0D3D1276-5111-ED65-4662-13321857C17D}"/>
              </a:ext>
            </a:extLst>
          </p:cNvPr>
          <p:cNvSpPr/>
          <p:nvPr/>
        </p:nvSpPr>
        <p:spPr>
          <a:xfrm>
            <a:off x="409903" y="2680138"/>
            <a:ext cx="731510" cy="612648"/>
          </a:xfrm>
          <a:prstGeom prst="flowChartDecision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Diagrama de flujo: decisión 5">
            <a:extLst>
              <a:ext uri="{FF2B5EF4-FFF2-40B4-BE49-F238E27FC236}">
                <a16:creationId xmlns:a16="http://schemas.microsoft.com/office/drawing/2014/main" id="{A850446D-22A9-72D3-DC84-FC371380B492}"/>
              </a:ext>
            </a:extLst>
          </p:cNvPr>
          <p:cNvSpPr/>
          <p:nvPr/>
        </p:nvSpPr>
        <p:spPr>
          <a:xfrm>
            <a:off x="409903" y="4024221"/>
            <a:ext cx="731510" cy="612648"/>
          </a:xfrm>
          <a:prstGeom prst="flowChartDecision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Diagrama de flujo: decisión 7">
            <a:extLst>
              <a:ext uri="{FF2B5EF4-FFF2-40B4-BE49-F238E27FC236}">
                <a16:creationId xmlns:a16="http://schemas.microsoft.com/office/drawing/2014/main" id="{1D838066-FC32-0995-ACAD-DFFA9DB0AA8C}"/>
              </a:ext>
            </a:extLst>
          </p:cNvPr>
          <p:cNvSpPr/>
          <p:nvPr/>
        </p:nvSpPr>
        <p:spPr>
          <a:xfrm>
            <a:off x="409903" y="5368305"/>
            <a:ext cx="731510" cy="612648"/>
          </a:xfrm>
          <a:prstGeom prst="flowChartDecision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4B1AF28-4613-6229-313B-8F47824BD05A}"/>
              </a:ext>
            </a:extLst>
          </p:cNvPr>
          <p:cNvSpPr txBox="1"/>
          <p:nvPr/>
        </p:nvSpPr>
        <p:spPr>
          <a:xfrm>
            <a:off x="1270163" y="2570963"/>
            <a:ext cx="39413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/>
              <a:t>RED </a:t>
            </a:r>
            <a:r>
              <a:rPr lang="es-MX" sz="2400" b="1" dirty="0">
                <a:solidFill>
                  <a:srgbClr val="FF0000"/>
                </a:solidFill>
              </a:rPr>
              <a:t>WAN</a:t>
            </a:r>
            <a:r>
              <a:rPr lang="es-MX" sz="2400" b="1" dirty="0"/>
              <a:t> GLOBAL Y DESENTRALIZADA.</a:t>
            </a:r>
            <a:endParaRPr lang="es-PE" sz="2400" b="1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7CB4CCE-3A99-49B1-85B6-9881E5FB28F9}"/>
              </a:ext>
            </a:extLst>
          </p:cNvPr>
          <p:cNvSpPr txBox="1"/>
          <p:nvPr/>
        </p:nvSpPr>
        <p:spPr>
          <a:xfrm>
            <a:off x="1270163" y="3730380"/>
            <a:ext cx="39413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/>
              <a:t>CONECTA MILLONES DE REDES LOCALES PÚBLICAS Y PRIVADAS.</a:t>
            </a:r>
            <a:endParaRPr lang="es-PE" sz="2400" b="1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00F9D69-0100-8F39-5EB8-68D00FD43ED0}"/>
              </a:ext>
            </a:extLst>
          </p:cNvPr>
          <p:cNvSpPr txBox="1"/>
          <p:nvPr/>
        </p:nvSpPr>
        <p:spPr>
          <a:xfrm>
            <a:off x="1270163" y="5259130"/>
            <a:ext cx="48242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/>
              <a:t>FUNCIONA MEDIANTE EL PROTOCOLO ESTÁNDAR </a:t>
            </a:r>
            <a:r>
              <a:rPr lang="es-MX" sz="2400" b="1" dirty="0">
                <a:solidFill>
                  <a:srgbClr val="FF0000"/>
                </a:solidFill>
              </a:rPr>
              <a:t>TCP/IP.</a:t>
            </a:r>
            <a:endParaRPr lang="es-PE" sz="2400" b="1" dirty="0">
              <a:solidFill>
                <a:srgbClr val="FF0000"/>
              </a:solidFill>
            </a:endParaRPr>
          </a:p>
        </p:txBody>
      </p:sp>
      <p:pic>
        <p:nvPicPr>
          <p:cNvPr id="12" name="Imagen 11" descr="Página 17 | Imágenes de Conexion internet - Descarga gratuita en Freepik">
            <a:extLst>
              <a:ext uri="{FF2B5EF4-FFF2-40B4-BE49-F238E27FC236}">
                <a16:creationId xmlns:a16="http://schemas.microsoft.com/office/drawing/2014/main" id="{23216395-4886-7EE1-0AF8-B97DC6914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352" y="2097088"/>
            <a:ext cx="6318960" cy="461902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64968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7F5ED8-E97A-C6C9-4839-08DA245B0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-138822"/>
            <a:ext cx="9905998" cy="1970964"/>
          </a:xfrm>
        </p:spPr>
        <p:txBody>
          <a:bodyPr>
            <a:normAutofit/>
          </a:bodyPr>
          <a:lstStyle/>
          <a:p>
            <a:pPr algn="ctr"/>
            <a:r>
              <a:rPr lang="es-MX" sz="4800" b="1" dirty="0">
                <a:solidFill>
                  <a:schemeClr val="bg2">
                    <a:lumMod val="50000"/>
                  </a:schemeClr>
                </a:solidFill>
              </a:rPr>
              <a:t>INFRAESTRUCTURA ESENCIAL Y CLAVE DE INTERNET</a:t>
            </a:r>
            <a:endParaRPr lang="es-PE" sz="4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Flecha: a la derecha 3">
            <a:extLst>
              <a:ext uri="{FF2B5EF4-FFF2-40B4-BE49-F238E27FC236}">
                <a16:creationId xmlns:a16="http://schemas.microsoft.com/office/drawing/2014/main" id="{9A6AD027-7782-A893-5FFA-44EDB129269F}"/>
              </a:ext>
            </a:extLst>
          </p:cNvPr>
          <p:cNvSpPr/>
          <p:nvPr/>
        </p:nvSpPr>
        <p:spPr>
          <a:xfrm>
            <a:off x="163005" y="2411105"/>
            <a:ext cx="978408" cy="48463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3E11D34C-79F5-921C-9758-8BE7556A4F40}"/>
              </a:ext>
            </a:extLst>
          </p:cNvPr>
          <p:cNvSpPr/>
          <p:nvPr/>
        </p:nvSpPr>
        <p:spPr>
          <a:xfrm>
            <a:off x="163005" y="3879720"/>
            <a:ext cx="978408" cy="48463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2C89DD71-599A-BF8C-769A-AA7E5030487D}"/>
              </a:ext>
            </a:extLst>
          </p:cNvPr>
          <p:cNvSpPr/>
          <p:nvPr/>
        </p:nvSpPr>
        <p:spPr>
          <a:xfrm>
            <a:off x="163005" y="5602896"/>
            <a:ext cx="978408" cy="48463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A897136-D9B2-E179-0C9A-1670981F5669}"/>
              </a:ext>
            </a:extLst>
          </p:cNvPr>
          <p:cNvSpPr txBox="1"/>
          <p:nvPr/>
        </p:nvSpPr>
        <p:spPr>
          <a:xfrm>
            <a:off x="1141413" y="2179776"/>
            <a:ext cx="54391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/>
              <a:t>SERVIDORES: COMPUTADORAS QUE ALMACENAN Y SIRVEN LOS SITIOS WEB.</a:t>
            </a:r>
            <a:endParaRPr lang="es-PE" sz="2400" b="1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11B1C3D-4F1E-5D9A-63F2-4D6A3D08A9A4}"/>
              </a:ext>
            </a:extLst>
          </p:cNvPr>
          <p:cNvSpPr txBox="1"/>
          <p:nvPr/>
        </p:nvSpPr>
        <p:spPr>
          <a:xfrm>
            <a:off x="1141413" y="3534116"/>
            <a:ext cx="67371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/>
              <a:t>CLIENTES: TUS DISPOSITIVOS  (TELÉFONICOS,LAPTOP)QUE PIDEN IMFORMACIÓN.</a:t>
            </a:r>
            <a:endParaRPr lang="es-PE" sz="2400" b="1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45C53C2-1355-8F8E-3732-7246AF85B17F}"/>
              </a:ext>
            </a:extLst>
          </p:cNvPr>
          <p:cNvSpPr txBox="1"/>
          <p:nvPr/>
        </p:nvSpPr>
        <p:spPr>
          <a:xfrm>
            <a:off x="1141413" y="5429713"/>
            <a:ext cx="61895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/>
              <a:t>ENRUTADORES(ROUTERS):DIRIGEN EL TRÁFICO DE DATOS POR EL CAMINO CORRECTO.</a:t>
            </a:r>
            <a:endParaRPr lang="es-PE" sz="2400" b="1" dirty="0"/>
          </a:p>
        </p:txBody>
      </p:sp>
      <p:pic>
        <p:nvPicPr>
          <p:cNvPr id="14" name="Imagen 13" descr="Infraestructura de Internet: qué es y por qué es importante">
            <a:extLst>
              <a:ext uri="{FF2B5EF4-FFF2-40B4-BE49-F238E27FC236}">
                <a16:creationId xmlns:a16="http://schemas.microsoft.com/office/drawing/2014/main" id="{265FCE89-F40C-FCD1-BBF3-E2DBF8532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517" y="1749973"/>
            <a:ext cx="5448478" cy="488007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90876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F25697-4F61-F8C5-4753-BB4DFA61C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-122462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s-MX" sz="4800" b="1" dirty="0">
                <a:solidFill>
                  <a:schemeClr val="bg2">
                    <a:lumMod val="50000"/>
                  </a:schemeClr>
                </a:solidFill>
              </a:rPr>
              <a:t>EL VIAJE DE LA IMFORMACIÓN</a:t>
            </a:r>
            <a:endParaRPr lang="es-PE" sz="48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Signo menos 3">
            <a:extLst>
              <a:ext uri="{FF2B5EF4-FFF2-40B4-BE49-F238E27FC236}">
                <a16:creationId xmlns:a16="http://schemas.microsoft.com/office/drawing/2014/main" id="{5F32F6F4-CCC8-F40A-8976-17962777B523}"/>
              </a:ext>
            </a:extLst>
          </p:cNvPr>
          <p:cNvSpPr/>
          <p:nvPr/>
        </p:nvSpPr>
        <p:spPr>
          <a:xfrm>
            <a:off x="0" y="1839835"/>
            <a:ext cx="914400" cy="914400"/>
          </a:xfrm>
          <a:prstGeom prst="mathMinus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Signo menos 5">
            <a:extLst>
              <a:ext uri="{FF2B5EF4-FFF2-40B4-BE49-F238E27FC236}">
                <a16:creationId xmlns:a16="http://schemas.microsoft.com/office/drawing/2014/main" id="{4FEAFF92-AC5A-3175-27C1-8386EBE2013D}"/>
              </a:ext>
            </a:extLst>
          </p:cNvPr>
          <p:cNvSpPr/>
          <p:nvPr/>
        </p:nvSpPr>
        <p:spPr>
          <a:xfrm>
            <a:off x="0" y="3488171"/>
            <a:ext cx="914400" cy="914400"/>
          </a:xfrm>
          <a:prstGeom prst="mathMinus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8" name="Signo menos 7">
            <a:extLst>
              <a:ext uri="{FF2B5EF4-FFF2-40B4-BE49-F238E27FC236}">
                <a16:creationId xmlns:a16="http://schemas.microsoft.com/office/drawing/2014/main" id="{C3AD114B-E625-E18B-7CD4-E4D484157B60}"/>
              </a:ext>
            </a:extLst>
          </p:cNvPr>
          <p:cNvSpPr/>
          <p:nvPr/>
        </p:nvSpPr>
        <p:spPr>
          <a:xfrm>
            <a:off x="-31531" y="5136507"/>
            <a:ext cx="914400" cy="914400"/>
          </a:xfrm>
          <a:prstGeom prst="mathMinus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79702B2-6F39-8849-661C-4303DFF2C6A0}"/>
              </a:ext>
            </a:extLst>
          </p:cNvPr>
          <p:cNvSpPr txBox="1"/>
          <p:nvPr/>
        </p:nvSpPr>
        <p:spPr>
          <a:xfrm>
            <a:off x="882869" y="2006641"/>
            <a:ext cx="63219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/>
              <a:t>LA IMFORMACIÓN SE DIVIDE EN PEQUEÑOS “2PAQUETES” DIGITALES.</a:t>
            </a:r>
            <a:endParaRPr lang="es-PE" sz="2400" b="1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B913064-1B7F-DE2B-A83F-12B9AD54550A}"/>
              </a:ext>
            </a:extLst>
          </p:cNvPr>
          <p:cNvSpPr txBox="1"/>
          <p:nvPr/>
        </p:nvSpPr>
        <p:spPr>
          <a:xfrm>
            <a:off x="848045" y="3571574"/>
            <a:ext cx="67194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/>
              <a:t>VIAJAN POR CABLES SUBMARINOS DE FIBRA ÓPTICA Y SATÉLITES.</a:t>
            </a:r>
            <a:endParaRPr lang="es-PE" sz="2400" b="1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1BFC180-316A-82A0-4BC4-86894DEFB592}"/>
              </a:ext>
            </a:extLst>
          </p:cNvPr>
          <p:cNvSpPr txBox="1"/>
          <p:nvPr/>
        </p:nvSpPr>
        <p:spPr>
          <a:xfrm>
            <a:off x="848045" y="5219910"/>
            <a:ext cx="61485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/>
              <a:t>SE REARMAN AL LLEGAR ATU PANTALLA EN MILISEGUNDOS.</a:t>
            </a:r>
            <a:endParaRPr lang="es-PE" sz="2400" b="1" dirty="0"/>
          </a:p>
        </p:txBody>
      </p:sp>
      <p:pic>
        <p:nvPicPr>
          <p:cNvPr id="13" name="Imagen 12" descr="Primer Plano De Un Cable De Fibra óptica Submarino, Que Conecta Continentes a Través De Los Océanos, Permitiendo Internet Global Y Stock de ilustración - Ilustración de infraestructura, océano: 352767126">
            <a:extLst>
              <a:ext uri="{FF2B5EF4-FFF2-40B4-BE49-F238E27FC236}">
                <a16:creationId xmlns:a16="http://schemas.microsoft.com/office/drawing/2014/main" id="{4EB194A4-B2A5-36E4-2D66-CEFE7969D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767" y="1401316"/>
            <a:ext cx="4950372" cy="523809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87203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0D9BEA-ADB0-3836-671E-3AC1BC505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165" y="173420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s-MX" sz="4800" b="1" dirty="0"/>
              <a:t>CONCLUSIÓN: UN MUNDO INTERCONECTADO</a:t>
            </a:r>
            <a:endParaRPr lang="es-PE" sz="4800" b="1" dirty="0"/>
          </a:p>
        </p:txBody>
      </p:sp>
      <p:sp>
        <p:nvSpPr>
          <p:cNvPr id="4" name="Flecha: cheurón 3">
            <a:extLst>
              <a:ext uri="{FF2B5EF4-FFF2-40B4-BE49-F238E27FC236}">
                <a16:creationId xmlns:a16="http://schemas.microsoft.com/office/drawing/2014/main" id="{1D3D7291-AFD8-3B72-1629-07F0F14DB3D1}"/>
              </a:ext>
            </a:extLst>
          </p:cNvPr>
          <p:cNvSpPr/>
          <p:nvPr/>
        </p:nvSpPr>
        <p:spPr>
          <a:xfrm>
            <a:off x="404533" y="2130527"/>
            <a:ext cx="484632" cy="484632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6" name="Flecha: cheurón 5">
            <a:extLst>
              <a:ext uri="{FF2B5EF4-FFF2-40B4-BE49-F238E27FC236}">
                <a16:creationId xmlns:a16="http://schemas.microsoft.com/office/drawing/2014/main" id="{073A97F8-C8D4-0C3E-CF91-6B9AC183DC05}"/>
              </a:ext>
            </a:extLst>
          </p:cNvPr>
          <p:cNvSpPr/>
          <p:nvPr/>
        </p:nvSpPr>
        <p:spPr>
          <a:xfrm>
            <a:off x="404533" y="3758210"/>
            <a:ext cx="484632" cy="484632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8" name="Flecha: cheurón 7">
            <a:extLst>
              <a:ext uri="{FF2B5EF4-FFF2-40B4-BE49-F238E27FC236}">
                <a16:creationId xmlns:a16="http://schemas.microsoft.com/office/drawing/2014/main" id="{1501BCA0-2E45-747F-4B5F-9D56482FA6E2}"/>
              </a:ext>
            </a:extLst>
          </p:cNvPr>
          <p:cNvSpPr/>
          <p:nvPr/>
        </p:nvSpPr>
        <p:spPr>
          <a:xfrm>
            <a:off x="404533" y="5419240"/>
            <a:ext cx="484632" cy="484632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6BFCA61-3404-6DE3-7584-F5431FA11D40}"/>
              </a:ext>
            </a:extLst>
          </p:cNvPr>
          <p:cNvSpPr txBox="1"/>
          <p:nvPr/>
        </p:nvSpPr>
        <p:spPr>
          <a:xfrm>
            <a:off x="889165" y="1981200"/>
            <a:ext cx="55809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/>
              <a:t>LAS REDES DE INTERNET SON LA COLUNNA VERTEBRAL DE LA ECONOMIA GLOBAL. </a:t>
            </a:r>
            <a:endParaRPr lang="es-PE" sz="2400" b="1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710D505-5B42-6F04-4351-66A89ECD00CF}"/>
              </a:ext>
            </a:extLst>
          </p:cNvPr>
          <p:cNvSpPr txBox="1"/>
          <p:nvPr/>
        </p:nvSpPr>
        <p:spPr>
          <a:xfrm>
            <a:off x="889165" y="3429000"/>
            <a:ext cx="55809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/>
              <a:t>TRASFORMAR LA EDUCACIÓN,EL ENTRETENIMIENTO Y LA COMUNICACIÓN DIARIA.</a:t>
            </a:r>
            <a:endParaRPr lang="es-PE" sz="2400" b="1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CDA5705-6A6F-3552-4CE9-39697B556500}"/>
              </a:ext>
            </a:extLst>
          </p:cNvPr>
          <p:cNvSpPr txBox="1"/>
          <p:nvPr/>
        </p:nvSpPr>
        <p:spPr>
          <a:xfrm>
            <a:off x="889165" y="5246057"/>
            <a:ext cx="63945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/>
              <a:t>EL FUTURO APUNTA A MAYOR VELOCIDAD CON TEGNOLOGÍAS COMO EL 5G/6G.</a:t>
            </a:r>
            <a:endParaRPr lang="es-PE" sz="2400" b="1" dirty="0"/>
          </a:p>
        </p:txBody>
      </p:sp>
      <p:pic>
        <p:nvPicPr>
          <p:cNvPr id="13" name="Imagen 12" descr="Imagen gratis de Experiencia de realidad virtual - Tecnología, Innovación, Virtual | Descargar en StockCake">
            <a:extLst>
              <a:ext uri="{FF2B5EF4-FFF2-40B4-BE49-F238E27FC236}">
                <a16:creationId xmlns:a16="http://schemas.microsoft.com/office/drawing/2014/main" id="{E0436F78-A246-DF0F-C09D-239BFCD32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6110" y="1562126"/>
            <a:ext cx="5281449" cy="51224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114377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{485D505F-D8BA-442B-A9C5-21AB24FBE509}TF6d5feb1e-e145-43f1-b745-cb4b54c5ee978f476b7f-4dbac0905932</Template>
  <TotalTime>142</TotalTime>
  <Words>233</Words>
  <Application>Microsoft Office PowerPoint</Application>
  <PresentationFormat>Panorámica</PresentationFormat>
  <Paragraphs>30</Paragraphs>
  <Slides>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Tw Cen MT</vt:lpstr>
      <vt:lpstr>Circuito</vt:lpstr>
      <vt:lpstr>REDES E INTERNET</vt:lpstr>
      <vt:lpstr>Definición de red </vt:lpstr>
      <vt:lpstr>CLASIFICACIÓN DE REDES </vt:lpstr>
      <vt:lpstr>¿QUE ES INTERNET?: LA RED DE REDES</vt:lpstr>
      <vt:lpstr>INFRAESTRUCTURA ESENCIAL Y CLAVE DE INTERNET</vt:lpstr>
      <vt:lpstr>EL VIAJE DE LA IMFORMACIÓN</vt:lpstr>
      <vt:lpstr>CONCLUSIÓN: UN MUNDO INTERCONECTADO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USUARIO</dc:creator>
  <cp:lastModifiedBy>USUARIO</cp:lastModifiedBy>
  <cp:revision>1</cp:revision>
  <dcterms:created xsi:type="dcterms:W3CDTF">2026-07-21T19:28:01Z</dcterms:created>
  <dcterms:modified xsi:type="dcterms:W3CDTF">2026-07-21T21:50:03Z</dcterms:modified>
</cp:coreProperties>
</file>